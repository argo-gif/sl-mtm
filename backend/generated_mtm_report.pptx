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autoCompressPictures="0">
  <p:sldMasterIdLst>
    <p:sldMasterId id="2147483648" r:id="rId1"/>
  </p:sldMasterIdLst>
  <p:notesMasterIdLst>
    <p:notesMasterId r:id="rId17"/>
  </p:notesMasterIdLst>
  <p:sldIdLst>
    <p:sldId id="256" r:id="rId2"/>
    <p:sldId id="258" r:id="rId3"/>
    <p:sldId id="260" r:id="rId4"/>
    <p:sldId id="259" r:id="rId16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747775"/>
          </p15:clr>
        </p15:guide>
        <p15:guide id="2" pos="2880" userDrawn="1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howGuides="1">
      <p:cViewPr varScale="1">
        <p:scale>
          <a:sx n="99" d="100"/>
          <a:sy n="99" d="100"/>
        </p:scale>
        <p:origin x="922" y="7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59956e13c8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59956e13c8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>
          <a:extLst>
            <a:ext uri="{FF2B5EF4-FFF2-40B4-BE49-F238E27FC236}">
              <a16:creationId xmlns:a16="http://schemas.microsoft.com/office/drawing/2014/main" id="{0EBA3C5C-0826-4809-1C7B-84EF24980D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59956e13c8_0_5:notes">
            <a:extLst>
              <a:ext uri="{FF2B5EF4-FFF2-40B4-BE49-F238E27FC236}">
                <a16:creationId xmlns:a16="http://schemas.microsoft.com/office/drawing/2014/main" id="{F348469C-99E4-B52B-BCDC-F8C2AF5C86F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59956e13c8_0_5:notes">
            <a:extLst>
              <a:ext uri="{FF2B5EF4-FFF2-40B4-BE49-F238E27FC236}">
                <a16:creationId xmlns:a16="http://schemas.microsoft.com/office/drawing/2014/main" id="{BB0BE72E-CB1C-4DF3-6A32-9A5C0488FFD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8594618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359956e13c8_0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" name="Google Shape;71;g359956e13c8_0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4454100" y="1441025"/>
            <a:ext cx="4378200" cy="1356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 sz="2000" b="1">
                <a:solidFill>
                  <a:srgbClr val="FFFFFF"/>
                </a:solidFill>
              </a:defRPr>
            </a:pPr>
            <a:r>
              <a:t>LAPORAN EXECUTIVE SERVICE LEVEL MTM</a:t>
            </a:r>
            <a:endParaRPr sz="2400" dirty="0"/>
          </a:p>
          <a:p>
            <a:pPr>
              <a:defRPr sz="1200">
                <a:solidFill>
                  <a:srgbClr val="FFD700"/>
                </a:solidFill>
              </a:defRPr>
            </a:pPr>
            <a:r>
              <a:t>Analisis Performa Pengiriman, Realisasi, dan Pareto Unfulfill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5502125" y="3222675"/>
            <a:ext cx="3330300" cy="40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62500" lnSpcReduction="2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 sz="950" b="1">
                <a:solidFill>
                  <a:srgbClr val="FFFFFF"/>
                </a:solidFill>
              </a:defRPr>
            </a:pPr>
            <a:r>
              <a:t>PERIODE FILTER: Bulan = JUL-2026, AGU-2026 (2 Periode Terpilih)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41148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C00000"/>
                </a:solidFill>
              </a:defRPr>
            </a:pPr>
            <a:r>
              <a:t>1. EXECUTIVE KPI SUMMARY &amp; TREND (JUL-2026)</a:t>
            </a:r>
          </a:p>
          <a:p>
            <a:pPr>
              <a:defRPr sz="850" b="1">
                <a:solidFill>
                  <a:srgbClr val="646464"/>
                </a:solidFill>
              </a:defRPr>
            </a:pPr>
            <a:r>
              <a:t>📌 Filter Aktif: Bulan = JUL-2026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51560"/>
            <a:ext cx="2514600" cy="868680"/>
          </a:xfrm>
          <a:prstGeom prst="roundRect">
            <a:avLst/>
          </a:prstGeom>
          <a:solidFill>
            <a:srgbClr val="F8F9FA"/>
          </a:solidFill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646464"/>
                </a:solidFill>
              </a:defRPr>
            </a:pPr>
            <a:r>
              <a:t>SERVICE LEVEL KIRIM</a:t>
            </a:r>
          </a:p>
          <a:p>
            <a:pPr algn="ctr">
              <a:defRPr sz="1900" b="1">
                <a:solidFill>
                  <a:srgbClr val="C00000"/>
                </a:solidFill>
              </a:defRPr>
            </a:pPr>
            <a:r>
              <a:t>86.0%</a:t>
            </a:r>
          </a:p>
          <a:p>
            <a:pPr algn="ctr">
              <a:defRPr sz="750">
                <a:solidFill>
                  <a:srgbClr val="787878"/>
                </a:solidFill>
              </a:defRPr>
            </a:pPr>
            <a:r>
              <a:t>Target Acuan: 85.0%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73552" y="1051560"/>
            <a:ext cx="2514600" cy="868680"/>
          </a:xfrm>
          <a:prstGeom prst="roundRect">
            <a:avLst/>
          </a:prstGeom>
          <a:solidFill>
            <a:srgbClr val="F8F9FA"/>
          </a:solidFill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646464"/>
                </a:solidFill>
              </a:defRPr>
            </a:pPr>
            <a:r>
              <a:t>SERVICE LEVEL REALISASI</a:t>
            </a:r>
          </a:p>
          <a:p>
            <a:pPr algn="ctr">
              <a:defRPr sz="1900" b="1">
                <a:solidFill>
                  <a:srgbClr val="C00000"/>
                </a:solidFill>
              </a:defRPr>
            </a:pPr>
            <a:r>
              <a:t>85.5%</a:t>
            </a:r>
          </a:p>
          <a:p>
            <a:pPr algn="ctr">
              <a:defRPr sz="750">
                <a:solidFill>
                  <a:srgbClr val="787878"/>
                </a:solidFill>
              </a:defRPr>
            </a:pPr>
            <a:r>
              <a:t>Target Acuan: 85.0%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44184" y="1051560"/>
            <a:ext cx="2514600" cy="868680"/>
          </a:xfrm>
          <a:prstGeom prst="roundRect">
            <a:avLst/>
          </a:prstGeom>
          <a:solidFill>
            <a:srgbClr val="F8F9FA"/>
          </a:solidFill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646464"/>
                </a:solidFill>
              </a:defRPr>
            </a:pPr>
            <a:r>
              <a:t>GAP REALISASI VS KIRIM</a:t>
            </a:r>
          </a:p>
          <a:p>
            <a:pPr algn="ctr">
              <a:defRPr sz="1900" b="1">
                <a:solidFill>
                  <a:srgbClr val="EF4444"/>
                </a:solidFill>
              </a:defRPr>
            </a:pPr>
            <a:r>
              <a:t>-0.5%</a:t>
            </a:r>
          </a:p>
          <a:p>
            <a:pPr algn="ctr">
              <a:defRPr sz="750">
                <a:solidFill>
                  <a:srgbClr val="787878"/>
                </a:solidFill>
              </a:defRPr>
            </a:pPr>
            <a:r>
              <a:t>Selisih Performa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Shape 65">
          <a:extLst>
            <a:ext uri="{FF2B5EF4-FFF2-40B4-BE49-F238E27FC236}">
              <a16:creationId xmlns:a16="http://schemas.microsoft.com/office/drawing/2014/main" id="{AB0F090A-AE11-BA71-014C-79EF5E0AF9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41148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C00000"/>
                </a:solidFill>
              </a:defRPr>
            </a:pPr>
            <a:r>
              <a:t>1. EXECUTIVE KPI SUMMARY &amp; TREND (AGU-2026)</a:t>
            </a:r>
          </a:p>
          <a:p>
            <a:pPr>
              <a:defRPr sz="850" b="1">
                <a:solidFill>
                  <a:srgbClr val="646464"/>
                </a:solidFill>
              </a:defRPr>
            </a:pPr>
            <a:r>
              <a:t>📌 Filter Aktif: Bulan = AGU-2026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51560"/>
            <a:ext cx="2514600" cy="868680"/>
          </a:xfrm>
          <a:prstGeom prst="roundRect">
            <a:avLst/>
          </a:prstGeom>
          <a:solidFill>
            <a:srgbClr val="F8F9FA"/>
          </a:solidFill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646464"/>
                </a:solidFill>
              </a:defRPr>
            </a:pPr>
            <a:r>
              <a:t>SERVICE LEVEL KIRIM</a:t>
            </a:r>
          </a:p>
          <a:p>
            <a:pPr algn="ctr">
              <a:defRPr sz="1900" b="1">
                <a:solidFill>
                  <a:srgbClr val="C00000"/>
                </a:solidFill>
              </a:defRPr>
            </a:pPr>
            <a:r>
              <a:t>87.1%</a:t>
            </a:r>
          </a:p>
          <a:p>
            <a:pPr algn="ctr">
              <a:defRPr sz="750">
                <a:solidFill>
                  <a:srgbClr val="787878"/>
                </a:solidFill>
              </a:defRPr>
            </a:pPr>
            <a:r>
              <a:t>Target Acuan: 85.0%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73552" y="1051560"/>
            <a:ext cx="2514600" cy="868680"/>
          </a:xfrm>
          <a:prstGeom prst="roundRect">
            <a:avLst/>
          </a:prstGeom>
          <a:solidFill>
            <a:srgbClr val="F8F9FA"/>
          </a:solidFill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646464"/>
                </a:solidFill>
              </a:defRPr>
            </a:pPr>
            <a:r>
              <a:t>SERVICE LEVEL REALISASI</a:t>
            </a:r>
          </a:p>
          <a:p>
            <a:pPr algn="ctr">
              <a:defRPr sz="1900" b="1">
                <a:solidFill>
                  <a:srgbClr val="C00000"/>
                </a:solidFill>
              </a:defRPr>
            </a:pPr>
            <a:r>
              <a:t>74.6%</a:t>
            </a:r>
          </a:p>
          <a:p>
            <a:pPr algn="ctr">
              <a:defRPr sz="750">
                <a:solidFill>
                  <a:srgbClr val="787878"/>
                </a:solidFill>
              </a:defRPr>
            </a:pPr>
            <a:r>
              <a:t>Target Acuan: 85.0%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44184" y="1051560"/>
            <a:ext cx="2514600" cy="868680"/>
          </a:xfrm>
          <a:prstGeom prst="roundRect">
            <a:avLst/>
          </a:prstGeom>
          <a:solidFill>
            <a:srgbClr val="F8F9FA"/>
          </a:solidFill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646464"/>
                </a:solidFill>
              </a:defRPr>
            </a:pPr>
            <a:r>
              <a:t>GAP REALISASI VS KIRIM</a:t>
            </a:r>
          </a:p>
          <a:p>
            <a:pPr algn="ctr">
              <a:defRPr sz="1900" b="1">
                <a:solidFill>
                  <a:srgbClr val="EF4444"/>
                </a:solidFill>
              </a:defRPr>
            </a:pPr>
            <a:r>
              <a:t>-12.5%</a:t>
            </a:r>
          </a:p>
          <a:p>
            <a:pPr algn="ctr">
              <a:defRPr sz="750">
                <a:solidFill>
                  <a:srgbClr val="787878"/>
                </a:solidFill>
              </a:defRPr>
            </a:pPr>
            <a:r>
              <a:t>Selisih Performa</a:t>
            </a:r>
          </a:p>
        </p:txBody>
      </p:sp>
    </p:spTree>
    <p:extLst>
      <p:ext uri="{BB962C8B-B14F-4D97-AF65-F5344CB8AC3E}">
        <p14:creationId xmlns:p14="http://schemas.microsoft.com/office/powerpoint/2010/main" val="4395077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6"/>
          <p:cNvSpPr txBox="1"/>
          <p:nvPr/>
        </p:nvSpPr>
        <p:spPr>
          <a:xfrm>
            <a:off x="2627975" y="1138325"/>
            <a:ext cx="6548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8534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7" baseType="lpstr">
      <vt:lpstr>Arial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User</dc:creator>
  <cp:lastModifiedBy>User</cp:lastModifiedBy>
  <cp:revision>62</cp:revision>
  <dcterms:created xsi:type="dcterms:W3CDTF">2025-05-08T01:04:59Z</dcterms:created>
  <dcterms:modified xsi:type="dcterms:W3CDTF">2026-08-20T06:27:36Z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E9A9DE205F0A57483B031C6814C417B0_43</vt:lpwstr>
  </property>
  <property fmtid="{D5CDD505-2E9C-101B-9397-08002B2CF9AE}" pid="3" name="KSOProductBuildVer">
    <vt:lpwstr>1033-12.8.2.14802</vt:lpwstr>
  </property>
</Properties>
</file>