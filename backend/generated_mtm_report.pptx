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60" r:id="rId4"/>
    <p:sldId id="261" r:id="rId5"/>
    <p:sldId id="262" r:id="rId6"/>
    <p:sldId id="263" r:id="rId7"/>
    <p:sldId id="270" r:id="rId8"/>
    <p:sldId id="271" r:id="rId9"/>
    <p:sldId id="266" r:id="rId10"/>
    <p:sldId id="269" r:id="rId11"/>
    <p:sldId id="259" r:id="rId1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99" d="100"/>
          <a:sy n="99" d="100"/>
        </p:scale>
        <p:origin x="922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SL Kirim (%)</c:v>
                </c:pt>
              </c:strCache>
            </c:strRef>
          </c:tx>
          <c:spPr>
            <a:solidFill>
              <a:srgbClr val="C00000"/>
            </a:solidFill>
          </c:spPr>
          <c:cat>
            <c:strRef>
              <c:f>Sheet1!$A$2:$A$9</c:f>
              <c:strCache>
                <c:ptCount val="8"/>
                <c:pt idx="0">
                  <c:v>JAN-2026</c:v>
                </c:pt>
                <c:pt idx="1">
                  <c:v>FEB-2026</c:v>
                </c:pt>
                <c:pt idx="2">
                  <c:v>MAR-2026</c:v>
                </c:pt>
                <c:pt idx="3">
                  <c:v>APR-2026</c:v>
                </c:pt>
                <c:pt idx="4">
                  <c:v>MEI-2026</c:v>
                </c:pt>
                <c:pt idx="5">
                  <c:v>JUN-2026</c:v>
                </c:pt>
                <c:pt idx="6">
                  <c:v>JUL-2026</c:v>
                </c:pt>
                <c:pt idx="7">
                  <c:v>AGU-2026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56.3</c:v>
                </c:pt>
                <c:pt idx="1">
                  <c:v>59.0</c:v>
                </c:pt>
                <c:pt idx="2">
                  <c:v>74.8</c:v>
                </c:pt>
                <c:pt idx="3">
                  <c:v>78.9</c:v>
                </c:pt>
                <c:pt idx="4">
                  <c:v>83.9</c:v>
                </c:pt>
                <c:pt idx="5">
                  <c:v>79.8</c:v>
                </c:pt>
                <c:pt idx="6">
                  <c:v>75.2</c:v>
                </c:pt>
                <c:pt idx="7">
                  <c:v>77.8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SL Realisasi (%)</c:v>
                </c:pt>
              </c:strCache>
            </c:strRef>
          </c:tx>
          <c:spPr>
            <a:solidFill>
              <a:srgbClr val="2563EB"/>
            </a:solidFill>
          </c:spPr>
          <c:cat>
            <c:strRef>
              <c:f>Sheet1!$A$2:$A$9</c:f>
              <c:strCache>
                <c:ptCount val="8"/>
                <c:pt idx="0">
                  <c:v>JAN-2026</c:v>
                </c:pt>
                <c:pt idx="1">
                  <c:v>FEB-2026</c:v>
                </c:pt>
                <c:pt idx="2">
                  <c:v>MAR-2026</c:v>
                </c:pt>
                <c:pt idx="3">
                  <c:v>APR-2026</c:v>
                </c:pt>
                <c:pt idx="4">
                  <c:v>MEI-2026</c:v>
                </c:pt>
                <c:pt idx="5">
                  <c:v>JUN-2026</c:v>
                </c:pt>
                <c:pt idx="6">
                  <c:v>JUL-2026</c:v>
                </c:pt>
                <c:pt idx="7">
                  <c:v>AGU-2026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56.0</c:v>
                </c:pt>
                <c:pt idx="1">
                  <c:v>58.0</c:v>
                </c:pt>
                <c:pt idx="2">
                  <c:v>72.8</c:v>
                </c:pt>
                <c:pt idx="3">
                  <c:v>78.3</c:v>
                </c:pt>
                <c:pt idx="4">
                  <c:v>83.7</c:v>
                </c:pt>
                <c:pt idx="5">
                  <c:v>79.5</c:v>
                </c:pt>
                <c:pt idx="6">
                  <c:v>74.7</c:v>
                </c:pt>
                <c:pt idx="7">
                  <c:v>49.7</c:v>
                </c:pt>
              </c:numCache>
            </c:numRef>
          </c:val>
        </c:ser>
        <c:dLbls>
          <c:txPr>
            <a:bodyPr/>
            <a:lstStyle/>
            <a:p>
              <a:pPr>
                <a:defRPr sz="75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  <c:majorUnit val="20.0"/>
      </c:valAx>
    </c:plotArea>
    <c:legend>
      <c:legendPos val="t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9956e13c8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9956e13c8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0EBA3C5C-0826-4809-1C7B-84EF24980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9956e13c8_0_5:notes">
            <a:extLst>
              <a:ext uri="{FF2B5EF4-FFF2-40B4-BE49-F238E27FC236}">
                <a16:creationId xmlns:a16="http://schemas.microsoft.com/office/drawing/2014/main" id="{F348469C-99E4-B52B-BCDC-F8C2AF5C86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9956e13c8_0_5:notes">
            <a:extLst>
              <a:ext uri="{FF2B5EF4-FFF2-40B4-BE49-F238E27FC236}">
                <a16:creationId xmlns:a16="http://schemas.microsoft.com/office/drawing/2014/main" id="{BB0BE72E-CB1C-4DF3-6A32-9A5C0488F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59461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DE284D1A-62E0-DBCC-7234-D5DE50199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9956e13c8_0_5:notes">
            <a:extLst>
              <a:ext uri="{FF2B5EF4-FFF2-40B4-BE49-F238E27FC236}">
                <a16:creationId xmlns:a16="http://schemas.microsoft.com/office/drawing/2014/main" id="{BAB957F0-5225-6791-1413-CB1D2B31DB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9956e13c8_0_5:notes">
            <a:extLst>
              <a:ext uri="{FF2B5EF4-FFF2-40B4-BE49-F238E27FC236}">
                <a16:creationId xmlns:a16="http://schemas.microsoft.com/office/drawing/2014/main" id="{B6AA508C-5278-13DC-895F-894029A6C3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37550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8D401C26-99B9-4C57-41F3-1E6315960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9956e13c8_0_5:notes">
            <a:extLst>
              <a:ext uri="{FF2B5EF4-FFF2-40B4-BE49-F238E27FC236}">
                <a16:creationId xmlns:a16="http://schemas.microsoft.com/office/drawing/2014/main" id="{FCC1B478-498C-1E53-7E62-5EF472F17C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9956e13c8_0_5:notes">
            <a:extLst>
              <a:ext uri="{FF2B5EF4-FFF2-40B4-BE49-F238E27FC236}">
                <a16:creationId xmlns:a16="http://schemas.microsoft.com/office/drawing/2014/main" id="{65AF07AE-0081-A9CC-0D25-BFC0286B32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3162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4B062785-C962-7269-5CC4-37033B826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9956e13c8_0_5:notes">
            <a:extLst>
              <a:ext uri="{FF2B5EF4-FFF2-40B4-BE49-F238E27FC236}">
                <a16:creationId xmlns:a16="http://schemas.microsoft.com/office/drawing/2014/main" id="{B766D11F-2A5C-2BF2-AAAB-30C20DB47C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9956e13c8_0_5:notes">
            <a:extLst>
              <a:ext uri="{FF2B5EF4-FFF2-40B4-BE49-F238E27FC236}">
                <a16:creationId xmlns:a16="http://schemas.microsoft.com/office/drawing/2014/main" id="{B2853CED-A04C-A867-5202-ABDF3CD1FE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8098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9A8F5C69-DAA9-91CF-271E-0310946C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9956e13c8_0_5:notes">
            <a:extLst>
              <a:ext uri="{FF2B5EF4-FFF2-40B4-BE49-F238E27FC236}">
                <a16:creationId xmlns:a16="http://schemas.microsoft.com/office/drawing/2014/main" id="{330F2C87-1344-5573-2B1C-612974C4E7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9956e13c8_0_5:notes">
            <a:extLst>
              <a:ext uri="{FF2B5EF4-FFF2-40B4-BE49-F238E27FC236}">
                <a16:creationId xmlns:a16="http://schemas.microsoft.com/office/drawing/2014/main" id="{4602D758-9802-2510-2D31-30919C4B2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23266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853CAC8C-876D-989A-A3DF-A7806CEB2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9956e13c8_0_5:notes">
            <a:extLst>
              <a:ext uri="{FF2B5EF4-FFF2-40B4-BE49-F238E27FC236}">
                <a16:creationId xmlns:a16="http://schemas.microsoft.com/office/drawing/2014/main" id="{A6968ABC-2222-55BE-CB37-78EEA282F9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9956e13c8_0_5:notes">
            <a:extLst>
              <a:ext uri="{FF2B5EF4-FFF2-40B4-BE49-F238E27FC236}">
                <a16:creationId xmlns:a16="http://schemas.microsoft.com/office/drawing/2014/main" id="{0FAE89EA-B919-5525-C172-4B2D8AD41E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08277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19FFE525-B9C3-85BF-BEF2-605997922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9956e13c8_0_5:notes">
            <a:extLst>
              <a:ext uri="{FF2B5EF4-FFF2-40B4-BE49-F238E27FC236}">
                <a16:creationId xmlns:a16="http://schemas.microsoft.com/office/drawing/2014/main" id="{19919787-6D23-5A50-D70D-37EF26624F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9956e13c8_0_5:notes">
            <a:extLst>
              <a:ext uri="{FF2B5EF4-FFF2-40B4-BE49-F238E27FC236}">
                <a16:creationId xmlns:a16="http://schemas.microsoft.com/office/drawing/2014/main" id="{2BF22B23-C2A7-6B5C-3BA3-39EABE3C68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59631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61B7D0EF-016A-4A7C-878B-8EBE05F3B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59956e13c8_0_5:notes">
            <a:extLst>
              <a:ext uri="{FF2B5EF4-FFF2-40B4-BE49-F238E27FC236}">
                <a16:creationId xmlns:a16="http://schemas.microsoft.com/office/drawing/2014/main" id="{2330CD92-FF13-3B9D-AE96-7F27438395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59956e13c8_0_5:notes">
            <a:extLst>
              <a:ext uri="{FF2B5EF4-FFF2-40B4-BE49-F238E27FC236}">
                <a16:creationId xmlns:a16="http://schemas.microsoft.com/office/drawing/2014/main" id="{8211F923-B081-362B-0760-DFA7DBD0EB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25015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59956e13c8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59956e13c8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4454100" y="1441025"/>
            <a:ext cx="4378200" cy="135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FFFFFF"/>
                </a:solidFill>
              </a:defRPr>
            </a:pPr>
            <a:r>
              <a:t>LAPORAN EXECUTIVE SERVICE LEVEL MTM</a:t>
            </a:r>
            <a:endParaRPr sz="2400" dirty="0"/>
          </a:p>
          <a:p>
            <a:pPr>
              <a:defRPr sz="1200">
                <a:solidFill>
                  <a:srgbClr val="FFD700"/>
                </a:solidFill>
              </a:defRPr>
            </a:pPr>
            <a:r>
              <a:t>Analisis Performa Pengiriman, Realisasi, dan Pareto Unfulfill</a:t>
            </a: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5502125" y="3222675"/>
            <a:ext cx="3330300" cy="40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62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 sz="950" b="1">
                <a:solidFill>
                  <a:srgbClr val="FFFFFF"/>
                </a:solidFill>
              </a:defRPr>
            </a:pPr>
            <a:r>
              <a:t>PERIODE FILTER: Bulan = AGU-2026 | MTM = KA | Brand = GB 5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840651-27F4-D052-2160-F974056B4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D"/>
          </a:p>
        </p:txBody>
      </p:sp>
      <p:sp>
        <p:nvSpPr>
          <p:cNvPr id="6" name="TextBox 5"/>
          <p:cNvSpPr txBox="1"/>
          <p:nvPr/>
        </p:nvSpPr>
        <p:spPr>
          <a:xfrm>
            <a:off x="502920" y="41148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C00000"/>
                </a:solidFill>
              </a:defRPr>
            </a:pPr>
            <a:r>
              <a:t>1. EXECUTIVE KPI SUMMARY &amp; TREND (AGU-2026)</a:t>
            </a:r>
          </a:p>
          <a:p>
            <a:pPr>
              <a:defRPr sz="850" b="1">
                <a:solidFill>
                  <a:srgbClr val="646464"/>
                </a:solidFill>
              </a:defRPr>
            </a:pPr>
            <a:r>
              <a:t>📌 Filter Aktif: Bulan = AGU-2026 | MTM = KA | Brand = GB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2514600" cy="868680"/>
          </a:xfrm>
          <a:prstGeom prst="roundRect">
            <a:avLst/>
          </a:prstGeom>
          <a:solidFill>
            <a:srgbClr val="F8F9FA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6464"/>
                </a:solidFill>
              </a:defRPr>
            </a:pPr>
            <a:r>
              <a:t>SERVICE LEVEL KIRIM</a:t>
            </a:r>
          </a:p>
          <a:p>
            <a:pPr algn="ctr">
              <a:defRPr sz="1900" b="1">
                <a:solidFill>
                  <a:srgbClr val="C00000"/>
                </a:solidFill>
              </a:defRPr>
            </a:pPr>
            <a:r>
              <a:t>77.8%</a:t>
            </a:r>
          </a:p>
          <a:p>
            <a:pPr algn="ctr">
              <a:defRPr sz="750">
                <a:solidFill>
                  <a:srgbClr val="787878"/>
                </a:solidFill>
              </a:defRPr>
            </a:pPr>
            <a:r>
              <a:t>Target Acuan: 85.0%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73552" y="1051560"/>
            <a:ext cx="2514600" cy="868680"/>
          </a:xfrm>
          <a:prstGeom prst="roundRect">
            <a:avLst/>
          </a:prstGeom>
          <a:solidFill>
            <a:srgbClr val="F8F9FA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6464"/>
                </a:solidFill>
              </a:defRPr>
            </a:pPr>
            <a:r>
              <a:t>SERVICE LEVEL REALISASI</a:t>
            </a:r>
          </a:p>
          <a:p>
            <a:pPr algn="ctr">
              <a:defRPr sz="1900" b="1">
                <a:solidFill>
                  <a:srgbClr val="C00000"/>
                </a:solidFill>
              </a:defRPr>
            </a:pPr>
            <a:r>
              <a:t>49.7%</a:t>
            </a:r>
          </a:p>
          <a:p>
            <a:pPr algn="ctr">
              <a:defRPr sz="750">
                <a:solidFill>
                  <a:srgbClr val="787878"/>
                </a:solidFill>
              </a:defRPr>
            </a:pPr>
            <a:r>
              <a:t>Target Acuan: 85.0%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44184" y="1051560"/>
            <a:ext cx="2514600" cy="868680"/>
          </a:xfrm>
          <a:prstGeom prst="roundRect">
            <a:avLst/>
          </a:prstGeom>
          <a:solidFill>
            <a:srgbClr val="F8F9FA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646464"/>
                </a:solidFill>
              </a:defRPr>
            </a:pPr>
            <a:r>
              <a:t>GAP REALISASI VS KIRIM</a:t>
            </a:r>
          </a:p>
          <a:p>
            <a:pPr algn="ctr">
              <a:defRPr sz="1900" b="1">
                <a:solidFill>
                  <a:srgbClr val="EF4444"/>
                </a:solidFill>
              </a:defRPr>
            </a:pPr>
            <a:r>
              <a:t>-28.1%</a:t>
            </a:r>
          </a:p>
          <a:p>
            <a:pPr algn="ctr">
              <a:defRPr sz="750">
                <a:solidFill>
                  <a:srgbClr val="787878"/>
                </a:solidFill>
              </a:defRPr>
            </a:pPr>
            <a:r>
              <a:t>Selisih Performa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02920" y="1993392"/>
          <a:ext cx="8046720" cy="23317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5">
          <a:extLst>
            <a:ext uri="{FF2B5EF4-FFF2-40B4-BE49-F238E27FC236}">
              <a16:creationId xmlns:a16="http://schemas.microsoft.com/office/drawing/2014/main" id="{AB0F090A-AE11-BA71-014C-79EF5E0AF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41148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00000"/>
                </a:solidFill>
              </a:defRPr>
            </a:pPr>
            <a:r>
              <a:t>2.1 ANALISIS PARETO UNFULLFILL - ALASAN KETERLAMBATAN (AGU-2026)</a:t>
            </a:r>
          </a:p>
          <a:p>
            <a:pPr>
              <a:defRPr sz="850" b="1">
                <a:solidFill>
                  <a:srgbClr val="646464"/>
                </a:solidFill>
              </a:defRPr>
            </a:pPr>
            <a:r>
              <a:t>📌 Filter Aktif: Bulan = AGU-2026 | MTM = KA | Brand = GB 5 | Pareto 80% (1 - 3 dari 3 Alasan)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2621280" cy="2011680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⭐ PARETO #1: STOCK OUT PRINCIPAL</a:t>
            </a:r>
          </a:p>
          <a:p>
            <a:pPr>
              <a:defRPr sz="1500" b="1">
                <a:solidFill>
                  <a:srgbClr val="FFD700"/>
                </a:solidFill>
              </a:defRPr>
            </a:pPr>
            <a:r>
              <a:t>Rp 268,561,510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37.7% Kontribusi | 37.7% Kum.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07080" y="1234440"/>
            <a:ext cx="2621280" cy="2011680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⭐ PARETO #2: STOCK OUT CABANG</a:t>
            </a:r>
          </a:p>
          <a:p>
            <a:pPr>
              <a:defRPr sz="1500" b="1">
                <a:solidFill>
                  <a:srgbClr val="FFD700"/>
                </a:solidFill>
              </a:defRPr>
            </a:pPr>
            <a:r>
              <a:t>Rp 172,745,900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24.2% Kontribusi | 62.0% Kum.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11240" y="1234440"/>
            <a:ext cx="2621280" cy="2011680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⭐ PARETO #3: BARANG DALAM PERJALANAN (BDP)</a:t>
            </a:r>
          </a:p>
          <a:p>
            <a:pPr>
              <a:defRPr sz="1500" b="1">
                <a:solidFill>
                  <a:srgbClr val="FFD700"/>
                </a:solidFill>
              </a:defRPr>
            </a:pPr>
            <a:r>
              <a:t>Rp 166,014,270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23.3% Kontribusi | 85.2% Kum.</a:t>
            </a:r>
          </a:p>
        </p:txBody>
      </p:sp>
    </p:spTree>
    <p:extLst>
      <p:ext uri="{BB962C8B-B14F-4D97-AF65-F5344CB8AC3E}">
        <p14:creationId xmlns:p14="http://schemas.microsoft.com/office/powerpoint/2010/main" val="439507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5">
          <a:extLst>
            <a:ext uri="{FF2B5EF4-FFF2-40B4-BE49-F238E27FC236}">
              <a16:creationId xmlns:a16="http://schemas.microsoft.com/office/drawing/2014/main" id="{BC51AF43-D872-719A-C6EA-864FDF7EA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41148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0000"/>
                </a:solidFill>
              </a:defRPr>
            </a:pPr>
            <a:r>
              <a:t>2.2 TABEL DETAIL TRANSAKSI - PARETO ALASAN KETERLAMBATAN (AGU-2026)</a:t>
            </a:r>
          </a:p>
          <a:p>
            <a:pPr>
              <a:defRPr sz="850" b="1">
                <a:solidFill>
                  <a:srgbClr val="646464"/>
                </a:solidFill>
              </a:defRPr>
            </a:pPr>
            <a:r>
              <a:t>📌 Filter Aktif: Bulan = AGU-2026 | MTM = KA | Brand = GB 5 | Filter Pareto 80% (1 - 3 dari 3 Alasan)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051560"/>
          <a:ext cx="80467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03120"/>
                <a:gridCol w="1005840"/>
                <a:gridCol w="1005840"/>
                <a:gridCol w="1005840"/>
                <a:gridCol w="1005840"/>
                <a:gridCol w="731520"/>
                <a:gridCol w="731520"/>
              </a:tblGrid>
              <a:tr h="868680"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Nama Alasan (Pareto 80%)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Total Order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Total Kirim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Total Realisasi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Nilai Unfulfill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SL Kirim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SL Realisasi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STOCK OUT PRINCIPAL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287,500,730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18,939,220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18,939,220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268,561,510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6.6%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6.6%</a:t>
                      </a:r>
                    </a:p>
                  </a:txBody>
                  <a:tcPr marL="38100" marR="38100" marT="25400" marB="25400"/>
                </a:tc>
              </a:tr>
              <a:tr h="86868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2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STOCK OUT CABANG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221,928,250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49,182,350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39,181,000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172,745,900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22.2%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17.6%</a:t>
                      </a:r>
                    </a:p>
                  </a:txBody>
                  <a:tcPr marL="38100" marR="38100" marT="25400" marB="25400"/>
                </a:tc>
              </a:tr>
              <a:tr h="86868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3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BARANG DALAM PERJALANAN (BDP)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188,207,610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22,193,340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21,267,180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166,014,270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11.8%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11.3%</a:t>
                      </a:r>
                    </a:p>
                  </a:txBody>
                  <a:tcPr marL="38100" marR="38100" marT="25400" marB="2540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2474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5">
          <a:extLst>
            <a:ext uri="{FF2B5EF4-FFF2-40B4-BE49-F238E27FC236}">
              <a16:creationId xmlns:a16="http://schemas.microsoft.com/office/drawing/2014/main" id="{8290DC83-EC4D-3586-8C2A-30BF3570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41148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00000"/>
                </a:solidFill>
              </a:defRPr>
            </a:pPr>
            <a:r>
              <a:t>3.1 ANALISIS PARETO UNFULLFILL - AKUN MTM ALIAS (AGU-2026)</a:t>
            </a:r>
          </a:p>
          <a:p>
            <a:pPr>
              <a:defRPr sz="850" b="1">
                <a:solidFill>
                  <a:srgbClr val="646464"/>
                </a:solidFill>
              </a:defRPr>
            </a:pPr>
            <a:r>
              <a:t>📌 Filter Aktif: Bulan = AGU-2026 | MTM = KA | Brand = GB 5 | Pareto 80% (1 - 5 dari 5 Akun MTM)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2514600" cy="1508760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⭐ PARETO #1: SAT</a:t>
            </a:r>
          </a:p>
          <a:p>
            <a:pPr>
              <a:defRPr sz="1300" b="1">
                <a:solidFill>
                  <a:srgbClr val="FFD700"/>
                </a:solidFill>
              </a:defRPr>
            </a:pPr>
            <a:r>
              <a:t>Rp 317,946,720</a:t>
            </a:r>
          </a:p>
          <a:p>
            <a:pPr>
              <a:defRPr sz="750">
                <a:solidFill>
                  <a:srgbClr val="F8FAFC"/>
                </a:solidFill>
              </a:defRPr>
            </a:pPr>
            <a:r>
              <a:t>44.6% Kontribusi | 44.6% Kum.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051560"/>
            <a:ext cx="2514600" cy="1508760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⭐ PARETO #2: MIDI</a:t>
            </a:r>
          </a:p>
          <a:p>
            <a:pPr>
              <a:defRPr sz="1300" b="1">
                <a:solidFill>
                  <a:srgbClr val="FFD700"/>
                </a:solidFill>
              </a:defRPr>
            </a:pPr>
            <a:r>
              <a:t>Rp 170,760,380</a:t>
            </a:r>
          </a:p>
          <a:p>
            <a:pPr>
              <a:defRPr sz="750">
                <a:solidFill>
                  <a:srgbClr val="F8FAFC"/>
                </a:solidFill>
              </a:defRPr>
            </a:pPr>
            <a:r>
              <a:t>24.0% Kontribusi | 68.6% Kum.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97880" y="1051560"/>
            <a:ext cx="2514600" cy="1508760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⭐ PARETO #3: INDGR</a:t>
            </a:r>
          </a:p>
          <a:p>
            <a:pPr>
              <a:defRPr sz="1300" b="1">
                <a:solidFill>
                  <a:srgbClr val="FFD700"/>
                </a:solidFill>
              </a:defRPr>
            </a:pPr>
            <a:r>
              <a:t>Rp 38,956,080</a:t>
            </a:r>
          </a:p>
          <a:p>
            <a:pPr>
              <a:defRPr sz="750">
                <a:solidFill>
                  <a:srgbClr val="F8FAFC"/>
                </a:solidFill>
              </a:defRPr>
            </a:pPr>
            <a:r>
              <a:t>5.5% Kontribusi | 74.1% Kum.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24912"/>
            <a:ext cx="2514600" cy="1508760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⭐ PARETO #4: HYMRT</a:t>
            </a:r>
          </a:p>
          <a:p>
            <a:pPr>
              <a:defRPr sz="1300" b="1">
                <a:solidFill>
                  <a:srgbClr val="FFD700"/>
                </a:solidFill>
              </a:defRPr>
            </a:pPr>
            <a:r>
              <a:t>Rp 36,846,580</a:t>
            </a:r>
          </a:p>
          <a:p>
            <a:pPr>
              <a:defRPr sz="750">
                <a:solidFill>
                  <a:srgbClr val="F8FAFC"/>
                </a:solidFill>
              </a:defRPr>
            </a:pPr>
            <a:r>
              <a:t>5.2% Kontribusi | 79.2% Kum.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724912"/>
            <a:ext cx="2514600" cy="1508760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⭐ PARETO #5: LION</a:t>
            </a:r>
          </a:p>
          <a:p>
            <a:pPr>
              <a:defRPr sz="1300" b="1">
                <a:solidFill>
                  <a:srgbClr val="FFD700"/>
                </a:solidFill>
              </a:defRPr>
            </a:pPr>
            <a:r>
              <a:t>Rp 28,665,110</a:t>
            </a:r>
          </a:p>
          <a:p>
            <a:pPr>
              <a:defRPr sz="750">
                <a:solidFill>
                  <a:srgbClr val="F8FAFC"/>
                </a:solidFill>
              </a:defRPr>
            </a:pPr>
            <a:r>
              <a:t>4.0% Kontribusi | 83.3% Kum.</a:t>
            </a:r>
          </a:p>
        </p:txBody>
      </p:sp>
    </p:spTree>
    <p:extLst>
      <p:ext uri="{BB962C8B-B14F-4D97-AF65-F5344CB8AC3E}">
        <p14:creationId xmlns:p14="http://schemas.microsoft.com/office/powerpoint/2010/main" val="3892127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5">
          <a:extLst>
            <a:ext uri="{FF2B5EF4-FFF2-40B4-BE49-F238E27FC236}">
              <a16:creationId xmlns:a16="http://schemas.microsoft.com/office/drawing/2014/main" id="{12D3925E-80E8-B29F-04BB-63BBBFE47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41148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0000"/>
                </a:solidFill>
              </a:defRPr>
            </a:pPr>
            <a:r>
              <a:t>3.2 TABEL DETAIL TRANSAKSI - PARETO AKUN MTM ALIAS (AGU-2026)</a:t>
            </a:r>
          </a:p>
          <a:p>
            <a:pPr>
              <a:defRPr sz="850" b="1">
                <a:solidFill>
                  <a:srgbClr val="646464"/>
                </a:solidFill>
              </a:defRPr>
            </a:pPr>
            <a:r>
              <a:t>📌 Filter Aktif: Bulan = AGU-2026 | MTM = KA | Brand = GB 5 | Filter Pareto 80% (1 - 5 dari 5 Akun MTM)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051560"/>
          <a:ext cx="80467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03120"/>
                <a:gridCol w="1005840"/>
                <a:gridCol w="1005840"/>
                <a:gridCol w="1005840"/>
                <a:gridCol w="1005840"/>
                <a:gridCol w="731520"/>
                <a:gridCol w="731520"/>
              </a:tblGrid>
              <a:tr h="579120"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Nama Akun MTM (Pareto 80%)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Total Order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Total Kirim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Total Realisasi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Nilai Unfulfill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SL Kirim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SL Realisasi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SAT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1,651,826,880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1,333,880,160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902,171,040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317,946,720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80.8%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54.6%</a:t>
                      </a:r>
                    </a:p>
                  </a:txBody>
                  <a:tcPr marL="38100" marR="381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2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MIDI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423,716,000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268,183,700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167,536,860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170,760,380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63.3%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39.5%</a:t>
                      </a:r>
                    </a:p>
                  </a:txBody>
                  <a:tcPr marL="38100" marR="381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3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INDGR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213,517,680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177,259,680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141,401,280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38,956,080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83.0%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66.2%</a:t>
                      </a:r>
                    </a:p>
                  </a:txBody>
                  <a:tcPr marL="38100" marR="381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4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HYMRT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102,562,420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67,179,720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47,919,600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36,846,580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65.5%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46.7%</a:t>
                      </a:r>
                    </a:p>
                  </a:txBody>
                  <a:tcPr marL="38100" marR="38100" marT="25400" marB="25400"/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5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LION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209,704,610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182,344,620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160,821,460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28,665,110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87.0%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76.7%</a:t>
                      </a:r>
                    </a:p>
                  </a:txBody>
                  <a:tcPr marL="38100" marR="38100" marT="25400" marB="2540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6628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5">
          <a:extLst>
            <a:ext uri="{FF2B5EF4-FFF2-40B4-BE49-F238E27FC236}">
              <a16:creationId xmlns:a16="http://schemas.microsoft.com/office/drawing/2014/main" id="{576672C9-1209-F7C7-1A25-228ECDABB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41148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00000"/>
                </a:solidFill>
              </a:defRPr>
            </a:pPr>
            <a:r>
              <a:t>4.1 ANALISIS PARETO UNFULLFILL - NAMA CABANG (AGU-2026)</a:t>
            </a:r>
          </a:p>
          <a:p>
            <a:pPr>
              <a:defRPr sz="850" b="1">
                <a:solidFill>
                  <a:srgbClr val="646464"/>
                </a:solidFill>
              </a:defRPr>
            </a:pPr>
            <a:r>
              <a:t>📌 Filter Aktif: Bulan = AGU-2026 | MTM = KA | Brand = GB 5 | Pareto 80% (1 - 12 dari 12 Cabang)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#1: MANADO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148,529,230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20.9% Kontribusi | 20.9% Kum.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87167" y="1051560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#2: MEDAN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114,218,970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16.0% Kontribusi | 36.9% Kum.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71414" y="1051560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#3: TANGERANG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64,066,640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9.0% Kontribusi | 45.9% Kum.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55661" y="1051560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#4: BEKASI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53,990,500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7.6% Kontribusi | 53.5% Kum.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28216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#5: GORONTALO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50,386,440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7.1% Kontribusi | 60.5% Kum.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7167" y="1728216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#6: PONTIANAK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40,169,400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5.6% Kontribusi | 66.2% Kum.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1414" y="1728216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#7: BATAM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30,315,980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4.3% Kontribusi | 70.4% Kum.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5661" y="1728216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#8: KENDARI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15,088,120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2.1% Kontribusi | 72.5% Kum.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#9: PALU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15,045,600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2.1% Kontribusi | 74.7% Kum.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87167" y="2404872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#10: BANDUNG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14,222,960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2.0% Kontribusi | 76.7% Kum.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71414" y="2404872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#11: SAMARINDA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13,487,280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1.9% Kontribusi | 78.5% Kum.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55661" y="2404872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#12: SOLO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12,968,100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1.8% Kontribusi | 80.4% Kum.</a:t>
            </a:r>
          </a:p>
        </p:txBody>
      </p:sp>
    </p:spTree>
    <p:extLst>
      <p:ext uri="{BB962C8B-B14F-4D97-AF65-F5344CB8AC3E}">
        <p14:creationId xmlns:p14="http://schemas.microsoft.com/office/powerpoint/2010/main" val="3674420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5">
          <a:extLst>
            <a:ext uri="{FF2B5EF4-FFF2-40B4-BE49-F238E27FC236}">
              <a16:creationId xmlns:a16="http://schemas.microsoft.com/office/drawing/2014/main" id="{FB602098-D1C6-EF02-6157-47FD5E079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41148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0000"/>
                </a:solidFill>
              </a:defRPr>
            </a:pPr>
            <a:r>
              <a:t>4.2 TABEL DETAIL TRANSAKSI - PARETO NAMA CABANG (AGU-2026)</a:t>
            </a:r>
          </a:p>
          <a:p>
            <a:pPr>
              <a:defRPr sz="850" b="1">
                <a:solidFill>
                  <a:srgbClr val="646464"/>
                </a:solidFill>
              </a:defRPr>
            </a:pPr>
            <a:r>
              <a:t>📌 Filter Aktif: Bulan = AGU-2026 | MTM = KA | Brand = GB 5 | Filter Pareto 80% (1 - 12 dari 12 Cabang)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051560"/>
          <a:ext cx="80467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03120"/>
                <a:gridCol w="1005840"/>
                <a:gridCol w="1005840"/>
                <a:gridCol w="1005840"/>
                <a:gridCol w="1005840"/>
                <a:gridCol w="731520"/>
                <a:gridCol w="731520"/>
              </a:tblGrid>
              <a:tr h="267286"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Nama Cabang (Pareto 80%)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Total Order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Total Kirim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Total Realisasi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Nilai Unfulfill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SL Kirim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SL Realisasi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267286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MANADO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249,255,340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103,503,390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33,714,440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148,529,230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41.5%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13.5%</a:t>
                      </a:r>
                    </a:p>
                  </a:txBody>
                  <a:tcPr marL="38100" marR="38100" marT="25400" marB="25400"/>
                </a:tc>
              </a:tr>
              <a:tr h="267286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2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MEDAN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223,339,100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109,429,310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52,100,850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114,218,970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49.0%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23.3%</a:t>
                      </a:r>
                    </a:p>
                  </a:txBody>
                  <a:tcPr marL="38100" marR="38100" marT="25400" marB="25400"/>
                </a:tc>
              </a:tr>
              <a:tr h="267286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3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TANGERANG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258,683,140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197,392,540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144,501,440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64,066,640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76.3%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55.9%</a:t>
                      </a:r>
                    </a:p>
                  </a:txBody>
                  <a:tcPr marL="38100" marR="38100" marT="25400" marB="25400"/>
                </a:tc>
              </a:tr>
              <a:tr h="267286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4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BEKASI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290,851,990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243,488,490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220,884,430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53,990,500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83.7%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75.9%</a:t>
                      </a:r>
                    </a:p>
                  </a:txBody>
                  <a:tcPr marL="38100" marR="38100" marT="25400" marB="25400"/>
                </a:tc>
              </a:tr>
              <a:tr h="267286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5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GORONTALO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89,668,150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41,502,670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38,930,830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50,386,440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46.3%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43.4%</a:t>
                      </a:r>
                    </a:p>
                  </a:txBody>
                  <a:tcPr marL="38100" marR="38100" marT="25400" marB="25400"/>
                </a:tc>
              </a:tr>
              <a:tr h="267286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6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PONTIANAK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133,305,630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93,136,230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21,925,590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40,169,400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69.9%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16.4%</a:t>
                      </a:r>
                    </a:p>
                  </a:txBody>
                  <a:tcPr marL="38100" marR="38100" marT="25400" marB="25400"/>
                </a:tc>
              </a:tr>
              <a:tr h="267286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7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BATAM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79,918,950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50,551,710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34,936,330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30,315,980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63.2%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43.7%</a:t>
                      </a:r>
                    </a:p>
                  </a:txBody>
                  <a:tcPr marL="38100" marR="38100" marT="25400" marB="25400"/>
                </a:tc>
              </a:tr>
              <a:tr h="267286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8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KENDARI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49,957,590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34,869,470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28,128,510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15,088,120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69.8%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56.3%</a:t>
                      </a:r>
                    </a:p>
                  </a:txBody>
                  <a:tcPr marL="38100" marR="38100" marT="25400" marB="25400"/>
                </a:tc>
              </a:tr>
              <a:tr h="267286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9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PALU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30,759,070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15,961,630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9,375,370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15,045,600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51.9%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30.5%</a:t>
                      </a:r>
                    </a:p>
                  </a:txBody>
                  <a:tcPr marL="38100" marR="38100" marT="25400" marB="25400"/>
                </a:tc>
              </a:tr>
              <a:tr h="267286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BANDUNG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170,749,400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157,444,400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117,425,620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14,222,960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92.2%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68.8%</a:t>
                      </a:r>
                    </a:p>
                  </a:txBody>
                  <a:tcPr marL="38100" marR="38100" marT="25400" marB="25400"/>
                </a:tc>
              </a:tr>
              <a:tr h="267286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11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SAMARINDA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104,722,900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96,089,380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64,545,940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13,487,280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91.8%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61.6%</a:t>
                      </a:r>
                    </a:p>
                  </a:txBody>
                  <a:tcPr marL="38100" marR="38100" marT="25400" marB="25400"/>
                </a:tc>
              </a:tr>
              <a:tr h="267288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12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SOLO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115,224,400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102,774,160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57,770,900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12,968,100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89.2%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50.1%</a:t>
                      </a:r>
                    </a:p>
                  </a:txBody>
                  <a:tcPr marL="38100" marR="38100" marT="25400" marB="2540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31594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5">
          <a:extLst>
            <a:ext uri="{FF2B5EF4-FFF2-40B4-BE49-F238E27FC236}">
              <a16:creationId xmlns:a16="http://schemas.microsoft.com/office/drawing/2014/main" id="{8ECD8376-EC0C-5273-1D07-26C8C70BD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41148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00000"/>
                </a:solidFill>
              </a:defRPr>
            </a:pPr>
            <a:r>
              <a:t>5.1 ANALISIS PARETO UNFULLFILL - ITEM / PRODUK SKU (AGU-2026)</a:t>
            </a:r>
          </a:p>
          <a:p>
            <a:pPr>
              <a:defRPr sz="850" b="1">
                <a:solidFill>
                  <a:srgbClr val="646464"/>
                </a:solidFill>
              </a:defRPr>
            </a:pPr>
            <a:r>
              <a:t>📌 Filter Aktif: Bulan = AGU-2026 | MTM = KA | Brand = GB 5 | Pareto 80% (1 - 11 dari 11 Item SKU)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#1: GET GIT WAFER COKLAT 102 G REG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290,467,920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40.8% Kontribusi | 40.8% Kum.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87167" y="1051560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#2: TINI WINI BITI KEJU FAMILY PACK 38G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71,020,100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10.0% Kontribusi | 50.7% Kum.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71414" y="1051560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#3: BRINGZ LUMIER COKELAT 100 G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34,610,520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4.9% Kontribusi | 55.6% Kum.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55661" y="1051560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#4: DIASWEET FIBERWAFER CHOCOLATE 19 G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32,307,000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4.5% Kontribusi | 60.1% Kum.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28216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#5: TINI WINI BITI WHIZPY MILKY CHOCOLATE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29,887,200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4.2% Kontribusi | 64.3% Kum.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7167" y="1728216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#6: TINI WINI BITI RAINBOW 57 G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25,534,300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3.6% Kontribusi | 67.9% Kum.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71414" y="1728216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#7: TINI WINI BITI MYSTERIOUS BLACK 30 G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24,094,800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3.4% Kontribusi | 71.3% Kum.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5661" y="1728216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#8: TINI WINI BITI SATE AYAM 30 G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19,876,200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2.8% Kontribusi | 74.1% Kum.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#9: DIASWEET FIBERWAFER CHOCOLATE 18 G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19,194,300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2.7% Kontribusi | 76.8% Kum.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87167" y="2404872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#10: BRINGZ LUMIER BUTTER 100 G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16,056,000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2.2% Kontribusi | 79.0% Kum.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71414" y="2404872"/>
            <a:ext cx="1874519" cy="621792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defRPr sz="750" b="1">
                <a:solidFill>
                  <a:srgbClr val="FFFFFF"/>
                </a:solidFill>
              </a:defRPr>
            </a:pPr>
            <a:r>
              <a:t>⭐ PARETO #11: CHOCOLITO RICH CHOCO 38 G</a:t>
            </a:r>
          </a:p>
          <a:p>
            <a:pPr>
              <a:defRPr sz="950" b="1">
                <a:solidFill>
                  <a:srgbClr val="FFD700"/>
                </a:solidFill>
              </a:defRPr>
            </a:pPr>
            <a:r>
              <a:t>Rp 13,585,920</a:t>
            </a:r>
          </a:p>
          <a:p>
            <a:pPr>
              <a:defRPr sz="650">
                <a:solidFill>
                  <a:srgbClr val="F8FAFC"/>
                </a:solidFill>
              </a:defRPr>
            </a:pPr>
            <a:r>
              <a:t>1.9% Kontribusi | 81.0% Kum.</a:t>
            </a:r>
          </a:p>
        </p:txBody>
      </p:sp>
    </p:spTree>
    <p:extLst>
      <p:ext uri="{BB962C8B-B14F-4D97-AF65-F5344CB8AC3E}">
        <p14:creationId xmlns:p14="http://schemas.microsoft.com/office/powerpoint/2010/main" val="2060672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65">
          <a:extLst>
            <a:ext uri="{FF2B5EF4-FFF2-40B4-BE49-F238E27FC236}">
              <a16:creationId xmlns:a16="http://schemas.microsoft.com/office/drawing/2014/main" id="{A12EBA9A-DA19-29D5-0B95-A306FB0F3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41148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0000"/>
                </a:solidFill>
              </a:defRPr>
            </a:pPr>
            <a:r>
              <a:t>5.2 TABEL DETAIL TRANSAKSI - PARETO ITEM / PRODUK SKU (AGU-2026)</a:t>
            </a:r>
          </a:p>
          <a:p>
            <a:pPr>
              <a:defRPr sz="850" b="1">
                <a:solidFill>
                  <a:srgbClr val="646464"/>
                </a:solidFill>
              </a:defRPr>
            </a:pPr>
            <a:r>
              <a:t>📌 Filter Aktif: Bulan = AGU-2026 | MTM = KA | Brand = GB 5 | Filter Pareto 80% (1 - 11 dari 11 Item SKU)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051560"/>
          <a:ext cx="80467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03120"/>
                <a:gridCol w="1005840"/>
                <a:gridCol w="1005840"/>
                <a:gridCol w="1005840"/>
                <a:gridCol w="1005840"/>
                <a:gridCol w="731520"/>
                <a:gridCol w="731520"/>
              </a:tblGrid>
              <a:tr h="289560"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Nama Item SKU (Pareto 80%)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Total Order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Total Kirim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Total Realisasi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Nilai Unfulfill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SL Kirim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800">
                          <a:solidFill>
                            <a:srgbClr val="FFFFFF"/>
                          </a:solidFill>
                        </a:defRPr>
                      </a:pPr>
                      <a:r>
                        <a:t>SL Realisasi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GET GIT WAFER COKLAT 102 G REG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739,560,960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450,030,960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329,561,040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290,467,920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60.9%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44.6%</a:t>
                      </a:r>
                    </a:p>
                  </a:txBody>
                  <a:tcPr marL="38100" marR="38100" marT="25400" marB="25400"/>
                </a:tc>
              </a:tr>
              <a:tr h="28956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2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TINI WINI BITI KEJU FAMILY PACK 38G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73,005,380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2,233,440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992,640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71,020,100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3.1%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1.4%</a:t>
                      </a:r>
                    </a:p>
                  </a:txBody>
                  <a:tcPr marL="38100" marR="38100" marT="25400" marB="25400"/>
                </a:tc>
              </a:tr>
              <a:tr h="28956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3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BRINGZ LUMIER COKELAT 100 G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44,085,600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9,813,480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6,045,480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34,610,520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22.3%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13.7%</a:t>
                      </a:r>
                    </a:p>
                  </a:txBody>
                  <a:tcPr marL="38100" marR="38100" marT="25400" marB="25400"/>
                </a:tc>
              </a:tr>
              <a:tr h="28956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4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DIASWEET FIBERWAFER CHOCOLATE 19 G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44,585,400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12,278,400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11,726,640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32,307,000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27.5%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26.3%</a:t>
                      </a:r>
                    </a:p>
                  </a:txBody>
                  <a:tcPr marL="38100" marR="38100" marT="25400" marB="25400"/>
                </a:tc>
              </a:tr>
              <a:tr h="28956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5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TINI WINI BITI WHIZPY MILKY CHOCOLATE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101,787,840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72,718,080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51,804,000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29,887,200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71.4%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50.9%</a:t>
                      </a:r>
                    </a:p>
                  </a:txBody>
                  <a:tcPr marL="38100" marR="38100" marT="25400" marB="25400"/>
                </a:tc>
              </a:tr>
              <a:tr h="28956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6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TINI WINI BITI RAINBOW 57 G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415,352,090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397,152,910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273,780,670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25,534,300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95.6%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65.9%</a:t>
                      </a:r>
                    </a:p>
                  </a:txBody>
                  <a:tcPr marL="38100" marR="38100" marT="25400" marB="25400"/>
                </a:tc>
              </a:tr>
              <a:tr h="28956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7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TINI WINI BITI MYSTERIOUS BLACK 30 G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24,094,800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24,094,800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0.0%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0.0%</a:t>
                      </a:r>
                    </a:p>
                  </a:txBody>
                  <a:tcPr marL="38100" marR="38100" marT="25400" marB="25400"/>
                </a:tc>
              </a:tr>
              <a:tr h="28956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8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TINI WINI BITI SATE AYAM 30 G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20,377,800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501,600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501,600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19,876,200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2.5%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2.5%</a:t>
                      </a:r>
                    </a:p>
                  </a:txBody>
                  <a:tcPr marL="38100" marR="38100" marT="25400" marB="25400"/>
                </a:tc>
              </a:tr>
              <a:tr h="28956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9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DIASWEET FIBERWAFER CHOCOLATE 18 G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19,194,300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19,194,300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0.0%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0.0%</a:t>
                      </a:r>
                    </a:p>
                  </a:txBody>
                  <a:tcPr marL="38100" marR="38100" marT="25400" marB="25400"/>
                </a:tc>
              </a:tr>
              <a:tr h="28956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BRINGZ LUMIER BUTTER 100 G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82,709,400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66,653,400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34,038,360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16,056,000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80.6%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41.1%</a:t>
                      </a:r>
                    </a:p>
                  </a:txBody>
                  <a:tcPr marL="38100" marR="38100" marT="25400" marB="25400"/>
                </a:tc>
              </a:tr>
              <a:tr h="289560"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11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>
                        <a:defRPr sz="750"/>
                      </a:pPr>
                      <a:r>
                        <a:t>CHOCOLITO RICH CHOCO 38 G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654,972,480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647,453,760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345,639,360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r">
                        <a:defRPr sz="750"/>
                      </a:pPr>
                      <a:r>
                        <a:t>13,585,920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98.8%</a:t>
                      </a:r>
                    </a:p>
                  </a:txBody>
                  <a:tcPr marL="38100" marR="38100" marT="25400" marB="25400"/>
                </a:tc>
                <a:tc>
                  <a:txBody>
                    <a:bodyPr/>
                    <a:lstStyle/>
                    <a:p>
                      <a:pPr algn="ctr">
                        <a:defRPr sz="750"/>
                      </a:pPr>
                      <a:r>
                        <a:t>52.8%</a:t>
                      </a:r>
                    </a:p>
                  </a:txBody>
                  <a:tcPr marL="38100" marR="38100" marT="25400" marB="2540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51669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2627975" y="1138325"/>
            <a:ext cx="6548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8534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7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62</cp:revision>
  <dcterms:created xsi:type="dcterms:W3CDTF">2025-05-08T01:04:59Z</dcterms:created>
  <dcterms:modified xsi:type="dcterms:W3CDTF">2026-08-20T06:27:36Z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E9A9DE205F0A57483B031C6814C417B0_43</vt:lpwstr>
  </property>
  <property fmtid="{D5CDD505-2E9C-101B-9397-08002B2CF9AE}" pid="3" name="KSOProductBuildVer">
    <vt:lpwstr>1033-12.8.2.14802</vt:lpwstr>
  </property>
</Properties>
</file>