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59" r:id="rId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99" d="100"/>
          <a:sy n="99" d="100"/>
        </p:scale>
        <p:origin x="922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9956e13c8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9956e13c8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59956e13c8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59956e13c8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4454100" y="1441025"/>
            <a:ext cx="4378200" cy="135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5502125" y="3222675"/>
            <a:ext cx="3330300" cy="40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62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6" name="TextBox 55"/>
          <p:cNvSpPr txBox="1"/>
          <p:nvPr/>
        </p:nvSpPr>
        <p:spPr>
          <a:xfrm>
            <a:off x="731520" y="3474720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LAPORAN EXECUTIVE SERVICE LEVEL MTM</a:t>
            </a:r>
          </a:p>
          <a:p>
            <a:pPr>
              <a:defRPr sz="1300">
                <a:solidFill>
                  <a:srgbClr val="FFD700"/>
                </a:solidFill>
              </a:defRPr>
            </a:pPr>
            <a:r>
              <a:t>Analisis Performa Pengiriman, Realisasi, dan Pareto Unfulfill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PERIODE FILTER: AGU-2026 | JENIS MTM: KA | CABANG: Semua Cabang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840651-27F4-D052-2160-F974056B4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D"/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C00000"/>
                </a:solidFill>
              </a:defRPr>
            </a:pPr>
            <a:r>
              <a:t>1. EXECUTIVE KPI SUMMARY &amp; TREND (AGU-2026)</a:t>
            </a:r>
          </a:p>
          <a:p>
            <a:pPr>
              <a:defRPr sz="850" b="1">
                <a:solidFill>
                  <a:srgbClr val="646464"/>
                </a:solidFill>
              </a:defRPr>
            </a:pPr>
            <a:r>
              <a:t>📌 Filter Aktif: Bulan = AGU-2026 | MTM = KA | Cabang = Semua Cabang | Brand = Semua Grup Brand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468880" cy="1051560"/>
          </a:xfrm>
          <a:prstGeom prst="roundRect">
            <a:avLst/>
          </a:prstGeom>
          <a:solidFill>
            <a:srgbClr val="F8F9FA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646464"/>
                </a:solidFill>
              </a:defRPr>
            </a:pPr>
            <a:r>
              <a:t>SERVICE LEVEL KIRIM</a:t>
            </a:r>
          </a:p>
          <a:p>
            <a:pPr algn="ctr">
              <a:defRPr sz="2100" b="1">
                <a:solidFill>
                  <a:srgbClr val="C00000"/>
                </a:solidFill>
              </a:defRPr>
            </a:pPr>
            <a:r>
              <a:t>87.6%</a:t>
            </a:r>
          </a:p>
          <a:p>
            <a:pPr algn="ctr">
              <a:defRPr sz="800">
                <a:solidFill>
                  <a:srgbClr val="787878"/>
                </a:solidFill>
              </a:defRPr>
            </a:pPr>
            <a:r>
              <a:t>Target Acuan: 85.0%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554480"/>
            <a:ext cx="2468880" cy="1051560"/>
          </a:xfrm>
          <a:prstGeom prst="roundRect">
            <a:avLst/>
          </a:prstGeom>
          <a:solidFill>
            <a:srgbClr val="F8F9FA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646464"/>
                </a:solidFill>
              </a:defRPr>
            </a:pPr>
            <a:r>
              <a:t>SERVICE LEVEL REALISASI</a:t>
            </a:r>
          </a:p>
          <a:p>
            <a:pPr algn="ctr">
              <a:defRPr sz="2100" b="1">
                <a:solidFill>
                  <a:srgbClr val="C00000"/>
                </a:solidFill>
              </a:defRPr>
            </a:pPr>
            <a:r>
              <a:t>52.9%</a:t>
            </a:r>
          </a:p>
          <a:p>
            <a:pPr algn="ctr">
              <a:defRPr sz="800">
                <a:solidFill>
                  <a:srgbClr val="787878"/>
                </a:solidFill>
              </a:defRPr>
            </a:pPr>
            <a:r>
              <a:t>Target Acuan: 85.0%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54480"/>
            <a:ext cx="2468880" cy="1051560"/>
          </a:xfrm>
          <a:prstGeom prst="roundRect">
            <a:avLst/>
          </a:prstGeom>
          <a:solidFill>
            <a:srgbClr val="F8F9FA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646464"/>
                </a:solidFill>
              </a:defRPr>
            </a:pPr>
            <a:r>
              <a:t>GAP REALISASI VS KIRIM</a:t>
            </a:r>
          </a:p>
          <a:p>
            <a:pPr algn="ctr">
              <a:defRPr sz="2100" b="1">
                <a:solidFill>
                  <a:srgbClr val="EF4444"/>
                </a:solidFill>
              </a:defRPr>
            </a:pPr>
            <a:r>
              <a:t>-34.7%</a:t>
            </a:r>
          </a:p>
          <a:p>
            <a:pPr algn="ctr">
              <a:defRPr sz="800">
                <a:solidFill>
                  <a:srgbClr val="787878"/>
                </a:solidFill>
              </a:defRPr>
            </a:pPr>
            <a:r>
              <a:t>Selisih Performa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788920"/>
          <a:ext cx="8046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1120"/>
                <a:gridCol w="1341120"/>
                <a:gridCol w="1341120"/>
                <a:gridCol w="1341120"/>
                <a:gridCol w="1341120"/>
                <a:gridCol w="1341120"/>
              </a:tblGrid>
              <a:tr h="248194">
                <a:tc>
                  <a:txBody>
                    <a:bodyPr/>
                    <a:lstStyle/>
                    <a:p>
                      <a:pPr algn="ctr"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Bulan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Total Pesan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Total Kirim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Total Realisasi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SL Kirim (%)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SL Realisasi (%)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248194"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t>JAN-2026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46,604,811,197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34,128,318,314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33,741,701,934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68.1%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67.7%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t>FEB-2026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36,571,847,722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28,202,025,600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27,868,163,336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71.2%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70.7%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t>MAR-2026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34,644,467,848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29,856,558,452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29,285,800,742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81.0%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79.8%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t>APR-2026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27,618,748,217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24,570,729,589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24,342,179,179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85.3%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84.8%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t>MEI-2026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27,104,057,928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24,597,847,420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24,416,006,470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87.4%</a:t>
                      </a:r>
                    </a:p>
                  </a:txBody>
                  <a:tcPr/>
                </a:tc>
              </a:tr>
              <a:tr h="248196"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t>JUN-2026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32,539,859,868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29,683,497,322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29,441,760,892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87.5%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850"/>
                      </a:pPr>
                      <a:r>
                        <a:t>87.0%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2627975" y="1138325"/>
            <a:ext cx="6548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8534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5" baseType="lpstr">
      <vt:lpstr>Arial</vt:lpstr>
      <vt:lpstr>Simple Light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61</cp:revision>
  <dcterms:created xsi:type="dcterms:W3CDTF">2025-05-08T01:04:59Z</dcterms:created>
  <dcterms:modified xsi:type="dcterms:W3CDTF">2026-08-06T07:51:25Z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E9A9DE205F0A57483B031C6814C417B0_43</vt:lpwstr>
  </property>
  <property fmtid="{D5CDD505-2E9C-101B-9397-08002B2CF9AE}" pid="3" name="KSOProductBuildVer">
    <vt:lpwstr>1033-12.8.2.14802</vt:lpwstr>
  </property>
</Properties>
</file>