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2" r:id="rId6"/>
    <p:sldId id="263" r:id="rId7"/>
    <p:sldId id="270" r:id="rId8"/>
    <p:sldId id="271" r:id="rId9"/>
    <p:sldId id="25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 Kirim (%)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Sheet1!$A$2:$A$9</c:f>
              <c:strCache>
                <c:ptCount val="8"/>
                <c:pt idx="0">
                  <c:v>JAN-2026</c:v>
                </c:pt>
                <c:pt idx="1">
                  <c:v>FEB-2026</c:v>
                </c:pt>
                <c:pt idx="2">
                  <c:v>MAR-2026</c:v>
                </c:pt>
                <c:pt idx="3">
                  <c:v>APR-2026</c:v>
                </c:pt>
                <c:pt idx="4">
                  <c:v>MEI-2026</c:v>
                </c:pt>
                <c:pt idx="5">
                  <c:v>JUN-2026</c:v>
                </c:pt>
                <c:pt idx="6">
                  <c:v>JUL-2026</c:v>
                </c:pt>
                <c:pt idx="7">
                  <c:v>AGU-2026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73.2</c:v>
                </c:pt>
                <c:pt idx="1">
                  <c:v>77.1</c:v>
                </c:pt>
                <c:pt idx="2">
                  <c:v>86.1</c:v>
                </c:pt>
                <c:pt idx="3">
                  <c:v>89.0</c:v>
                </c:pt>
                <c:pt idx="4">
                  <c:v>90.7</c:v>
                </c:pt>
                <c:pt idx="5">
                  <c:v>91.2</c:v>
                </c:pt>
                <c:pt idx="6">
                  <c:v>89.7</c:v>
                </c:pt>
                <c:pt idx="7">
                  <c:v>90.2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Realisasi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Sheet1!$A$2:$A$9</c:f>
              <c:strCache>
                <c:ptCount val="8"/>
                <c:pt idx="0">
                  <c:v>JAN-2026</c:v>
                </c:pt>
                <c:pt idx="1">
                  <c:v>FEB-2026</c:v>
                </c:pt>
                <c:pt idx="2">
                  <c:v>MAR-2026</c:v>
                </c:pt>
                <c:pt idx="3">
                  <c:v>APR-2026</c:v>
                </c:pt>
                <c:pt idx="4">
                  <c:v>MEI-2026</c:v>
                </c:pt>
                <c:pt idx="5">
                  <c:v>JUN-2026</c:v>
                </c:pt>
                <c:pt idx="6">
                  <c:v>JUL-2026</c:v>
                </c:pt>
                <c:pt idx="7">
                  <c:v>AGU-2026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72.4</c:v>
                </c:pt>
                <c:pt idx="1">
                  <c:v>76.2</c:v>
                </c:pt>
                <c:pt idx="2">
                  <c:v>84.5</c:v>
                </c:pt>
                <c:pt idx="3">
                  <c:v>88.1</c:v>
                </c:pt>
                <c:pt idx="4">
                  <c:v>90.1</c:v>
                </c:pt>
                <c:pt idx="5">
                  <c:v>90.5</c:v>
                </c:pt>
                <c:pt idx="6">
                  <c:v>89.0</c:v>
                </c:pt>
                <c:pt idx="7">
                  <c:v>89.5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 b="1">
                <a:solidFill>
                  <a:srgbClr val="1E29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4748B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 Kirim (%)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GB 1</c:v>
                </c:pt>
                <c:pt idx="1">
                  <c:v>GB 2</c:v>
                </c:pt>
                <c:pt idx="2">
                  <c:v>GB 3</c:v>
                </c:pt>
                <c:pt idx="3">
                  <c:v>GB 4</c:v>
                </c:pt>
                <c:pt idx="4">
                  <c:v>GB 5</c:v>
                </c:pt>
                <c:pt idx="5">
                  <c:v>GB 6</c:v>
                </c:pt>
                <c:pt idx="6">
                  <c:v>GB 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94.6</c:v>
                </c:pt>
                <c:pt idx="1">
                  <c:v>90.4</c:v>
                </c:pt>
                <c:pt idx="2">
                  <c:v>86.5</c:v>
                </c:pt>
                <c:pt idx="3">
                  <c:v>90.7</c:v>
                </c:pt>
                <c:pt idx="4">
                  <c:v>83.0</c:v>
                </c:pt>
                <c:pt idx="5">
                  <c:v>96.8</c:v>
                </c:pt>
                <c:pt idx="6">
                  <c:v>97.2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Realisasi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Sheet1!$A$2:$A$8</c:f>
              <c:strCache>
                <c:ptCount val="7"/>
                <c:pt idx="0">
                  <c:v>GB 1</c:v>
                </c:pt>
                <c:pt idx="1">
                  <c:v>GB 2</c:v>
                </c:pt>
                <c:pt idx="2">
                  <c:v>GB 3</c:v>
                </c:pt>
                <c:pt idx="3">
                  <c:v>GB 4</c:v>
                </c:pt>
                <c:pt idx="4">
                  <c:v>GB 5</c:v>
                </c:pt>
                <c:pt idx="5">
                  <c:v>GB 6</c:v>
                </c:pt>
                <c:pt idx="6">
                  <c:v>GB ET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94.3</c:v>
                </c:pt>
                <c:pt idx="1">
                  <c:v>89.9</c:v>
                </c:pt>
                <c:pt idx="2">
                  <c:v>85.8</c:v>
                </c:pt>
                <c:pt idx="3">
                  <c:v>90.2</c:v>
                </c:pt>
                <c:pt idx="4">
                  <c:v>82.2</c:v>
                </c:pt>
                <c:pt idx="5">
                  <c:v>96.4</c:v>
                </c:pt>
                <c:pt idx="6">
                  <c:v>84.4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65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 b="1">
                <a:solidFill>
                  <a:srgbClr val="1E29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4748B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0EBA3C5C-0826-4809-1C7B-84EF2498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F348469C-99E4-B52B-BCDC-F8C2AF5C8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BB0BE72E-CB1C-4DF3-6A32-9A5C0488F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946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E284D1A-62E0-DBCC-7234-D5DE5019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BAB957F0-5225-6791-1413-CB1D2B31D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B6AA508C-5278-13DC-895F-894029A6C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755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D401C26-99B9-4C57-41F3-1E631596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FCC1B478-498C-1E53-7E62-5EF472F17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65AF07AE-0081-A9CC-0D25-BFC0286B3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316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B062785-C962-7269-5CC4-37033B82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B766D11F-2A5C-2BF2-AAAB-30C20DB47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B2853CED-A04C-A867-5202-ABDF3CD1F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098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9A8F5C69-DAA9-91CF-271E-0310946C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330F2C87-1344-5573-2B1C-612974C4E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4602D758-9802-2510-2D31-30919C4B2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32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853CAC8C-876D-989A-A3DF-A7806CEB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9956e13c8_0_5:notes">
            <a:extLst>
              <a:ext uri="{FF2B5EF4-FFF2-40B4-BE49-F238E27FC236}">
                <a16:creationId xmlns:a16="http://schemas.microsoft.com/office/drawing/2014/main" id="{A6968ABC-2222-55BE-CB37-78EEA282F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9956e13c8_0_5:notes">
            <a:extLst>
              <a:ext uri="{FF2B5EF4-FFF2-40B4-BE49-F238E27FC236}">
                <a16:creationId xmlns:a16="http://schemas.microsoft.com/office/drawing/2014/main" id="{0FAE89EA-B919-5525-C172-4B2D8AD41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827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9956e13c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9956e13c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454100" y="1441025"/>
            <a:ext cx="4378200" cy="13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</a:defRPr>
            </a:pPr>
            <a:r>
              <a:t>LAPORAN EXECUTIVE SERVICE LEVEL MTM</a:t>
            </a:r>
            <a:endParaRPr sz="2400" dirty="0"/>
          </a:p>
          <a:p>
            <a:pPr>
              <a:defRPr sz="1200">
                <a:solidFill>
                  <a:srgbClr val="FFD700"/>
                </a:solidFill>
              </a:defRPr>
            </a:pPr>
            <a:r>
              <a:t>Analisis Performa Pengiriman, Realisasi, dan Pareto Unfulfill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502125" y="3222675"/>
            <a:ext cx="33303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 sz="950" b="1">
                <a:solidFill>
                  <a:srgbClr val="FFFFFF"/>
                </a:solidFill>
              </a:defRPr>
            </a:pPr>
            <a:r>
              <a:t>PERIODE FILTER: Bulan = AGU-2026 | MTM = 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</a:defRPr>
            </a:pPr>
            <a:r>
              <a:t>1. EXECUTIVE KPI SUMMARY &amp; TREND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2514600" cy="868680"/>
          </a:xfrm>
          <a:prstGeom prst="roundRect">
            <a:avLst/>
          </a:prstGeom>
          <a:solidFill>
            <a:srgbClr val="F8F9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6464"/>
                </a:solidFill>
              </a:defRPr>
            </a:pPr>
            <a:r>
              <a:t>SERVICE LEVEL KIRIM</a:t>
            </a:r>
          </a:p>
          <a:p>
            <a:pPr algn="ctr">
              <a:defRPr sz="1900" b="1">
                <a:solidFill>
                  <a:srgbClr val="C00000"/>
                </a:solidFill>
              </a:defRPr>
            </a:pPr>
            <a:r>
              <a:t>90.2%</a:t>
            </a:r>
          </a:p>
          <a:p>
            <a:pPr algn="ctr">
              <a:defRPr sz="750">
                <a:solidFill>
                  <a:srgbClr val="787878"/>
                </a:solidFill>
              </a:defRPr>
            </a:pPr>
            <a:r>
              <a:t>Target Acuan: 85.0%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73552" y="1051560"/>
            <a:ext cx="2514600" cy="868680"/>
          </a:xfrm>
          <a:prstGeom prst="roundRect">
            <a:avLst/>
          </a:prstGeom>
          <a:solidFill>
            <a:srgbClr val="F8F9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6464"/>
                </a:solidFill>
              </a:defRPr>
            </a:pPr>
            <a:r>
              <a:t>SERVICE LEVEL REALISASI</a:t>
            </a:r>
          </a:p>
          <a:p>
            <a:pPr algn="ctr">
              <a:defRPr sz="1900" b="1">
                <a:solidFill>
                  <a:srgbClr val="C00000"/>
                </a:solidFill>
              </a:defRPr>
            </a:pPr>
            <a:r>
              <a:t>89.5%</a:t>
            </a:r>
          </a:p>
          <a:p>
            <a:pPr algn="ctr">
              <a:defRPr sz="750">
                <a:solidFill>
                  <a:srgbClr val="787878"/>
                </a:solidFill>
              </a:defRPr>
            </a:pPr>
            <a:r>
              <a:t>Target Acuan: 85.0%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44184" y="1051560"/>
            <a:ext cx="2514600" cy="868680"/>
          </a:xfrm>
          <a:prstGeom prst="roundRect">
            <a:avLst/>
          </a:prstGeom>
          <a:solidFill>
            <a:srgbClr val="F8F9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6464"/>
                </a:solidFill>
              </a:defRPr>
            </a:pPr>
            <a:r>
              <a:t>GAP REALISASI VS KIRIM</a:t>
            </a:r>
          </a:p>
          <a:p>
            <a:pPr algn="ctr">
              <a:defRPr sz="1900" b="1">
                <a:solidFill>
                  <a:srgbClr val="EF4444"/>
                </a:solidFill>
              </a:defRPr>
            </a:pPr>
            <a:r>
              <a:t>-0.7%</a:t>
            </a:r>
          </a:p>
          <a:p>
            <a:pPr algn="ctr">
              <a:defRPr sz="750">
                <a:solidFill>
                  <a:srgbClr val="787878"/>
                </a:solidFill>
              </a:defRPr>
            </a:pPr>
            <a:r>
              <a:t>Selisih Performa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93392"/>
          <a:ext cx="804672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AB0F090A-AE11-BA71-014C-79EF5E0AF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</a:defRPr>
            </a:pPr>
            <a:r>
              <a:t>1.1 SERVICE LEVEL PER GRUP BRAND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 | Performa Pengiriman (SL Kirim) &amp; Realisasi (SL Realisasi) Per Grup Brand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051560"/>
          <a:ext cx="420624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051560"/>
          <a:ext cx="38862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502920"/>
                <a:gridCol w="502920"/>
                <a:gridCol w="548640"/>
              </a:tblGrid>
              <a:tr h="405765"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</a:defRPr>
                      </a:pPr>
                      <a:r>
                        <a:t>Grup Brand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</a:defRPr>
                      </a:pPr>
                      <a:r>
                        <a:t>Total Order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</a:defRPr>
                      </a:pPr>
                      <a:r>
                        <a:t>Total Kirim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</a:defRPr>
                      </a:pPr>
                      <a:r>
                        <a:t>SL Kirim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</a:defRPr>
                      </a:pPr>
                      <a:r>
                        <a:t>SL Real.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50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1,813,076,750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1,715,607,960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94.6%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94.3%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-0.3%</a:t>
                      </a:r>
                    </a:p>
                  </a:txBody>
                  <a:tcPr marL="25400" marR="25400" marT="12700" marB="12700"/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7,895,205,508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7,134,192,718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90.4%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89.9%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-0.4%</a:t>
                      </a:r>
                    </a:p>
                  </a:txBody>
                  <a:tcPr marL="25400" marR="25400" marT="12700" marB="12700"/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3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1,389,719,660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1,202,327,230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86.5%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85.8%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-0.8%</a:t>
                      </a:r>
                    </a:p>
                  </a:txBody>
                  <a:tcPr marL="25400" marR="25400" marT="12700" marB="12700"/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3,243,563,020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2,940,846,220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90.7%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90.2%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-0.5%</a:t>
                      </a:r>
                    </a:p>
                  </a:txBody>
                  <a:tcPr marL="25400" marR="25400" marT="12700" marB="12700"/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5,735,865,938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4,762,043,730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83.0%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82.2%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-0.8%</a:t>
                      </a:r>
                    </a:p>
                  </a:txBody>
                  <a:tcPr marL="25400" marR="25400" marT="12700" marB="12700"/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5,053,507,178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4,894,161,572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96.8%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96.4%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-0.4%</a:t>
                      </a:r>
                    </a:p>
                  </a:txBody>
                  <a:tcPr marL="25400" marR="25400" marT="12700" marB="12700"/>
                </a:tc>
              </a:tr>
              <a:tr h="4057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GB ET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351,842,500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341,985,000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97.2%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84.4%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C2626"/>
                          </a:solidFill>
                        </a:defRPr>
                      </a:pPr>
                      <a:r>
                        <a:t>-12.8%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507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BC51AF43-D872-719A-C6EA-864FDF7E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2.1 ANALISIS PARETO UNFULLFILL - ALASAN KETERLAMBATAN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 | Pareto 80% (1 - 4 dari 4 Alasan)</a:t>
            </a:r>
          </a:p>
        </p:txBody>
      </p:sp>
      <p:pic>
        <p:nvPicPr>
          <p:cNvPr id="3" name="Picture 2" descr="treemap_img_jdclack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05840"/>
            <a:ext cx="8183879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7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8290DC83-EC4D-3586-8C2A-30BF3570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3.1 ANALISIS PARETO UNFULLFILL - AKUN MTM ALIAS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 | Pareto 80% (1 - 8 dari 8 Akun MTM)</a:t>
            </a:r>
          </a:p>
        </p:txBody>
      </p:sp>
      <p:pic>
        <p:nvPicPr>
          <p:cNvPr id="3" name="Picture 2" descr="treemap_img_bwexl7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05840"/>
            <a:ext cx="8183879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27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12D3925E-80E8-B29F-04BB-63BBBFE4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4.1 ANALISIS PARETO UNFULLFILL - NAMA CABANG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 | Pareto 80% (1 - 16 dari 16 Cabang)</a:t>
            </a:r>
          </a:p>
        </p:txBody>
      </p:sp>
      <p:pic>
        <p:nvPicPr>
          <p:cNvPr id="3" name="Picture 2" descr="treemap_img_5_jnvf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05840"/>
            <a:ext cx="8183879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576672C9-1209-F7C7-1A25-228ECDAB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5.1 ANALISIS PARETO UNFULLFILL - GRUP BRAND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 | Pareto 80% (1 - 3 dari 3 Grup Brand)</a:t>
            </a:r>
          </a:p>
        </p:txBody>
      </p:sp>
      <p:pic>
        <p:nvPicPr>
          <p:cNvPr id="3" name="Picture 2" descr="treemap_img_i9pt5cd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05840"/>
            <a:ext cx="8183879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2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FB602098-D1C6-EF02-6157-47FD5E07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6.1 ANALISIS PARETO UNFULLFILL - ITEM / PRODUK SKU (AGU-2026)</a:t>
            </a:r>
          </a:p>
          <a:p>
            <a:pPr>
              <a:defRPr sz="850" b="1">
                <a:solidFill>
                  <a:srgbClr val="646464"/>
                </a:solidFill>
              </a:defRPr>
            </a:pPr>
            <a:r>
              <a:t>📌 Filter Aktif: Bulan = AGU-2026 | MTM = KA | Pareto 80% (1 - 34 dari 34 Item SKU)</a:t>
            </a:r>
          </a:p>
        </p:txBody>
      </p:sp>
      <p:pic>
        <p:nvPicPr>
          <p:cNvPr id="3" name="Picture 2" descr="treemap_img_4hg09q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05840"/>
            <a:ext cx="8183879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5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2627975" y="1138325"/>
            <a:ext cx="654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8534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62</cp:revision>
  <dcterms:created xsi:type="dcterms:W3CDTF">2025-05-08T01:04:59Z</dcterms:created>
  <dcterms:modified xsi:type="dcterms:W3CDTF">2026-08-20T06:27:36Z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E9A9DE205F0A57483B031C6814C417B0_43</vt:lpwstr>
  </property>
  <property fmtid="{D5CDD505-2E9C-101B-9397-08002B2CF9AE}" pid="3" name="KSOProductBuildVer">
    <vt:lpwstr>1033-12.8.2.14802</vt:lpwstr>
  </property>
</Properties>
</file>